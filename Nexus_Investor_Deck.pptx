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Consumer ARR</c:v>
                </c:pt>
              </c:strCache>
            </c:strRef>
          </c:tx>
          <c:spPr>
            <a:solidFill>
              <a:srgbClr val="3B82F6"/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384</c:v>
                </c:pt>
                <c:pt idx="1">
                  <c:v>3564</c:v>
                </c:pt>
                <c:pt idx="2">
                  <c:v>17040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 ARR</c:v>
                </c:pt>
              </c:strCache>
            </c:strRef>
          </c:tx>
          <c:spPr>
            <a:solidFill>
              <a:srgbClr val="8B5CF6"/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500</c:v>
                </c:pt>
                <c:pt idx="2">
                  <c:v>4500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Marketplace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20</c:v>
                </c:pt>
                <c:pt idx="2">
                  <c:v>300</c:v>
                </c:pt>
              </c:numCache>
            </c:numRef>
          </c:val>
        </c:ser>
        <c:gapWidth val="12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CBD5E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1E293B"/>
              </a:solidFill>
            </a:ln>
          </c:spPr>
        </c:majorGridlines>
        <c:numFmt formatCode="$#,##0&quot;K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CBD5E1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dPt>
            <c:idx val="0"/>
            <c:spPr>
              <a:solidFill>
                <a:srgbClr val="3B82F6"/>
              </a:solidFill>
            </c:spPr>
          </c:dPt>
          <c:dPt>
            <c:idx val="1"/>
            <c:spPr>
              <a:solidFill>
                <a:srgbClr val="8B5CF6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94A3B8"/>
              </a:solidFill>
            </c:spPr>
          </c:dPt>
          <c:dLbls>
            <c:numFmt formatCode="$#,##0&quot;K&quot;" sourceLinked="0"/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Engineering
(3 hires)</c:v>
                </c:pt>
                <c:pt idx="1">
                  <c:v>Infrastructure
(Gateway, CDN)</c:v>
                </c:pt>
                <c:pt idx="2">
                  <c:v>Go-to-Market
(Community, content)</c:v>
                </c:pt>
                <c:pt idx="3">
                  <c:v>Operations
&amp; Legal</c:v>
                </c:pt>
                <c:pt idx="4">
                  <c:v>Runway
Reserve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750</c:v>
                </c:pt>
                <c:pt idx="1">
                  <c:v>300</c:v>
                </c:pt>
                <c:pt idx="2">
                  <c:v>225</c:v>
                </c:pt>
                <c:pt idx="3">
                  <c:v>150</c:v>
                </c:pt>
                <c:pt idx="4">
                  <c:v>75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CBD5E1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FFFFF"/>
                </a:solidFill>
                <a:latin typeface="Calibri"/>
              </a:defRPr>
            </a:pPr>
            <a:r>
              <a:t>NEXUS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164592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60A5FA"/>
                </a:solidFill>
                <a:latin typeface="Calibri"/>
              </a:defRPr>
            </a:pPr>
            <a:r>
              <a:t>The Self-Evolving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048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A personal AI platform that learns, creates tools, and improves</a:t>
            </a:r>
            <a:br/>
            <a:r>
              <a:t>itself — while your data stays private.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607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Pre-Seed Investment Deck  •  2026  •  Confidential</a:t>
            </a:r>
          </a:p>
        </p:txBody>
      </p:sp>
      <p:sp>
        <p:nvSpPr>
          <p:cNvPr id="8" name="Oval 7"/>
          <p:cNvSpPr/>
          <p:nvPr/>
        </p:nvSpPr>
        <p:spPr>
          <a:xfrm>
            <a:off x="9601200" y="731520"/>
            <a:ext cx="2011680" cy="2011680"/>
          </a:xfrm>
          <a:prstGeom prst="ellipse">
            <a:avLst/>
          </a:prstGeom>
          <a:solidFill>
            <a:srgbClr val="1E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118872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3B82F6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Why current AI assistants fall short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91840" cy="3840480"/>
          </a:xfrm>
          <a:prstGeom prst="roundRect">
            <a:avLst/>
          </a:prstGeom>
          <a:solidFill>
            <a:srgbClr val="111E36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14884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7627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Stateless &amp; Forgetful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→  No persistent memory across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2336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→  Can't build on past work or learn preferences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6177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→  Every conversation starts from zero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828800"/>
            <a:ext cx="3291840" cy="3840480"/>
          </a:xfrm>
          <a:prstGeom prst="roundRect">
            <a:avLst/>
          </a:prstGeom>
          <a:solidFill>
            <a:srgbClr val="111E36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828800"/>
            <a:ext cx="3291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0" y="21488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17627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8803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Privacy Black 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4290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→  All data sent to third-party clouds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02336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→  No control over how data is stored or 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6177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→  Enterprise compliance is impossible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1828800"/>
            <a:ext cx="3291840" cy="3840480"/>
          </a:xfrm>
          <a:prstGeom prst="roundRect">
            <a:avLst/>
          </a:prstGeom>
          <a:solidFill>
            <a:srgbClr val="111E36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1828800"/>
            <a:ext cx="329184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49640" y="214884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217627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8803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One-Size-Fits-All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4290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→  No real customization beyond prompt tweaks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02336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→  Can't create workflows or automate tasks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6177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→  No self-improvement or skill building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Nexus: The AI agent that evolves with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1188720"/>
          </a:xfrm>
          <a:prstGeom prst="roundRect">
            <a:avLst/>
          </a:prstGeom>
          <a:solidFill>
            <a:srgbClr val="111E36"/>
          </a:solidFill>
          <a:ln w="19050">
            <a:solidFill>
              <a:srgbClr val="1E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9875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The only AI platform where the agent creates its own tools, refines its behavior, and builds knowledge over time — all while keeping your data on your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83280"/>
            <a:ext cx="2468880" cy="256032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383280"/>
            <a:ext cx="24688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B82F6"/>
                </a:solidFill>
                <a:latin typeface="Calibri"/>
              </a:defRPr>
            </a:pPr>
            <a:r>
              <a:t>Self-Evolving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20116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Dream engine creates &amp;</a:t>
            </a:r>
            <a:br/>
            <a:r>
              <a:t>refines skills autonomously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3383280"/>
            <a:ext cx="2468880" cy="256032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3383280"/>
            <a:ext cx="246888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36576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Local-First 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206240"/>
            <a:ext cx="20116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Data stays on your device.</a:t>
            </a:r>
            <a:br/>
            <a:r>
              <a:t>Cloud features are optional.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383280"/>
            <a:ext cx="2468880" cy="256032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3383280"/>
            <a:ext cx="246888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576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Model-Agnostic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06240"/>
            <a:ext cx="20116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Works with any LLM.</a:t>
            </a:r>
            <a:br/>
            <a:r>
              <a:t>Gateway optimizes cost &amp; quality.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3383280"/>
            <a:ext cx="2468880" cy="256032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3383280"/>
            <a:ext cx="246888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36576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Full Personal 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4206240"/>
            <a:ext cx="20116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Vault, kanban, calendar,</a:t>
            </a:r>
            <a:br/>
            <a:r>
              <a:t>voice, data, knowledge graph.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A complete AI agent platform, not just a chatbot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83280" cy="201168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45720" cy="2011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Agent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9260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20+ tools, sub-agent spawning,</a:t>
            </a:r>
            <a:br/>
            <a:r>
              <a:t>context compaction, overflow guard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383280" cy="201168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828800"/>
            <a:ext cx="45720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01168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Vault &amp;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68880"/>
            <a:ext cx="29260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Markdown files, FTS5 search,</a:t>
            </a:r>
            <a:br/>
            <a:r>
              <a:t>backlink graph, DuckDB datatables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828800"/>
            <a:ext cx="3383280" cy="201168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1828800"/>
            <a:ext cx="45720" cy="20116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01168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5CF6"/>
                </a:solidFill>
                <a:latin typeface="Calibri"/>
              </a:defRPr>
            </a:pPr>
            <a:r>
              <a:t>Dream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468880"/>
            <a:ext cx="29260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4-phase idle processing:</a:t>
            </a:r>
            <a:br/>
            <a:r>
              <a:t>consolidate → insight → refine → rehearse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06240"/>
            <a:ext cx="3383280" cy="201168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206240"/>
            <a:ext cx="45720" cy="20116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Voice &amp; TTS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29260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Local Piper TTS + Whisper STT,</a:t>
            </a:r>
            <a:br/>
            <a:r>
              <a:t>voice acknowledgments, multi-language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4206240"/>
            <a:ext cx="3383280" cy="201168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4206240"/>
            <a:ext cx="45720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3891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Kanban &amp; Calendar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846320"/>
            <a:ext cx="29260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Vault-native boards, iCal calendar,</a:t>
            </a:r>
            <a:br/>
            <a:r>
              <a:t>alarm notifications, auto-dispatch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4206240"/>
            <a:ext cx="3383280" cy="201168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6760" y="4206240"/>
            <a:ext cx="45720" cy="201168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43891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7171"/>
                </a:solidFill>
                <a:latin typeface="Calibri"/>
              </a:defRPr>
            </a:pPr>
            <a:r>
              <a:t>Tunnel &amp; Sharing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846320"/>
            <a:ext cx="29260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Cloudflare tunnel, secure access</a:t>
            </a:r>
            <a:br/>
            <a:r>
              <a:t>codes, read-only session sharing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A5FA"/>
                </a:solidFill>
                <a:latin typeface="Calibri"/>
              </a:defRPr>
            </a:pPr>
            <a:r>
              <a:t>50+ bundled skills  •  9 UI views  •  Docker, macOS, Windows  •  Fully offline capable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Model-agnostic by design, optimized by the Nexus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3767" y="2286000"/>
            <a:ext cx="2743200" cy="2286000"/>
          </a:xfrm>
          <a:prstGeom prst="roundRect">
            <a:avLst/>
          </a:prstGeom>
          <a:solidFill>
            <a:srgbClr val="111E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647" y="251460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Local Client</a:t>
            </a:r>
            <a:br/>
            <a:r>
              <a:t>(Nexus App)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647" y="3291840"/>
            <a:ext cx="23774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Self-hosted, 127.0.0.1</a:t>
            </a:r>
            <a:br/>
            <a:r>
              <a:t>Vault, Skills, 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764127" y="3401568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24247" y="2286000"/>
            <a:ext cx="2743200" cy="2286000"/>
          </a:xfrm>
          <a:prstGeom prst="roundRect">
            <a:avLst/>
          </a:prstGeom>
          <a:solidFill>
            <a:srgbClr val="111E36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07127" y="251460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Nexus Gateway</a:t>
            </a:r>
            <a:br/>
            <a:r>
              <a:t>(LiteLLM Proxy)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7127" y="3291840"/>
            <a:ext cx="23774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Intelligent routing</a:t>
            </a:r>
            <a:br/>
            <a:r>
              <a:t>Cost &amp; quality optimization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04607" y="3401568"/>
            <a:ext cx="82296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64727" y="2286000"/>
            <a:ext cx="2743200" cy="2286000"/>
          </a:xfrm>
          <a:prstGeom prst="roundRect">
            <a:avLst/>
          </a:prstGeom>
          <a:solidFill>
            <a:srgbClr val="111E36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47607" y="251460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Any LLM</a:t>
            </a:r>
            <a:br/>
            <a:r>
              <a:t>(GLM 5.1, GPT-4, 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7607" y="3291840"/>
            <a:ext cx="23774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OpenAI, Anthropic, Google,</a:t>
            </a:r>
            <a:br/>
            <a:r>
              <a:t>DeepSeek, local 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120640"/>
            <a:ext cx="9418320" cy="1005840"/>
          </a:xfrm>
          <a:prstGeom prst="roundRect">
            <a:avLst/>
          </a:prstGeom>
          <a:solidFill>
            <a:srgbClr val="152340"/>
          </a:solidFill>
          <a:ln w="19050">
            <a:solidFill>
              <a:srgbClr val="1E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5212080"/>
            <a:ext cx="1371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B82F6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828800" y="5212080"/>
            <a:ext cx="8686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60A5FA"/>
                </a:solidFill>
                <a:latin typeface="Calibri"/>
              </a:defRPr>
            </a:pPr>
            <a:r>
              <a:t>Cost Advantage:  GLM 5.1 backbone is 60-80% cheaper than GPT-4/Claude at retail.  LiteLLM routes each query to the optimal model.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Users never think about models — Nexus picks the best one for the task, at the lowest cost.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Self-Evolution: The Dream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The only AI agent that autonomously improves itself during idle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5207" y="2011680"/>
            <a:ext cx="2286000" cy="256032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43887" y="22402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3887" y="226771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367" y="29718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B82F6"/>
                </a:solidFill>
                <a:latin typeface="Calibri"/>
              </a:defRPr>
            </a:pPr>
            <a:r>
              <a:t>Consolidate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367" y="3474720"/>
            <a:ext cx="2011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Deduplicate memories,</a:t>
            </a:r>
            <a:br/>
            <a:r>
              <a:t>fix dates, prune stale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6927" y="3291840"/>
            <a:ext cx="274320" cy="4572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26967" y="2011680"/>
            <a:ext cx="2286000" cy="256032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95647" y="224028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5647" y="226771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4127" y="29718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Extract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4127" y="3474720"/>
            <a:ext cx="2011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Cross-session pattern</a:t>
            </a:r>
            <a:br/>
            <a:r>
              <a:t>recognition &amp; learning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58687" y="3291840"/>
            <a:ext cx="274320" cy="4572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78727" y="2011680"/>
            <a:ext cx="2286000" cy="256032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47407" y="224028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7407" y="226771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29718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B5CF6"/>
                </a:solidFill>
                <a:latin typeface="Calibri"/>
              </a:defRPr>
            </a:pPr>
            <a:r>
              <a:t>Refine 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3474720"/>
            <a:ext cx="2011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Suggest improvements</a:t>
            </a:r>
            <a:br/>
            <a:r>
              <a:t>to existing skills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10447" y="3291840"/>
            <a:ext cx="274320" cy="4572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30487" y="2011680"/>
            <a:ext cx="2286000" cy="256032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99167" y="22402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9167" y="226771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7647" y="29718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Rehearse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7647" y="3474720"/>
            <a:ext cx="2011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Test scenarios against</a:t>
            </a:r>
            <a:br/>
            <a:r>
              <a:t>refined capabilities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029200"/>
            <a:ext cx="10332720" cy="1097280"/>
          </a:xfrm>
          <a:prstGeom prst="roundRect">
            <a:avLst/>
          </a:prstGeom>
          <a:solidFill>
            <a:srgbClr val="15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120640"/>
            <a:ext cx="9784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Why this matters: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Skills are staged for user review — the agent never auto-deploys.  Guard rails scan for credential exfiltration, destructive patterns, and prompt injection.  Trust tiers (builtin / user / agent) control permissions.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A massive and rapidly growing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303520" cy="438912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0A5FA"/>
                </a:solidFill>
                <a:latin typeface="Calibri"/>
              </a:defRPr>
            </a:pPr>
            <a:r>
              <a:t>TAM — Total AI Agent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846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$100B+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846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The global market for AI agents and autonomous</a:t>
            </a:r>
            <a:br/>
            <a:r>
              <a:t>assistants by 2028 (IDC, Grand View Research).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3749039"/>
            <a:ext cx="4297680" cy="2194560"/>
          </a:xfrm>
          <a:prstGeom prst="roundRect">
            <a:avLst/>
          </a:prstGeom>
          <a:solidFill>
            <a:srgbClr val="15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384048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Calibri"/>
              </a:defRPr>
            </a:pPr>
            <a:r>
              <a:t>SAM — Personal AI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16052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$12B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663440"/>
            <a:ext cx="3840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Self-hosted and privacy-first AI agent platforms</a:t>
            </a:r>
            <a:br/>
            <a:r>
              <a:t>for prosumers and SMBs.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5120640"/>
            <a:ext cx="3383280" cy="914400"/>
          </a:xfrm>
          <a:prstGeom prst="roundRect">
            <a:avLst/>
          </a:prstGeom>
          <a:solidFill>
            <a:srgbClr val="1E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516636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SOM — Year 3 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44068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$400M   (45K subscribers + enterprise)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5029200" cy="438912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Market Tailwinds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46888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2468880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Agent-First Computing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724912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Shift from chatbots to autonomous agents doing real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3218688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218688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Privacy Regulation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474720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GDPR, AI Act, enterprise data sovereignty requirements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3968496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3968496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Voice + Multimodal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224528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CB Insights #1 prediction for 2026: multimodal agents win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4718304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4718304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Local-First Demand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974336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On-prem AI is the #1 enterprise requirement for sensitive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5468112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5468112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Cost Optimization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724144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Companies seeking cheaper alternatives to GPT-4/Claude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How Nexus compares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37360"/>
          <a:ext cx="9418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371600"/>
                <a:gridCol w="1371600"/>
                <a:gridCol w="1371600"/>
                <a:gridCol w="1371600"/>
              </a:tblGrid>
              <a:tr h="4156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15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Nexus</a:t>
                      </a:r>
                    </a:p>
                  </a:txBody>
                  <a:tcPr anchor="ctr"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</a:t>
                      </a:r>
                    </a:p>
                  </a:txBody>
                  <a:tcPr anchor="ctr">
                    <a:solidFill>
                      <a:srgbClr val="15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</a:t>
                      </a:r>
                    </a:p>
                  </a:txBody>
                  <a:tcPr anchor="ctr">
                    <a:solidFill>
                      <a:srgbClr val="15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Cursor</a:t>
                      </a:r>
                    </a:p>
                  </a:txBody>
                  <a:tcPr anchor="ctr">
                    <a:solidFill>
                      <a:srgbClr val="15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Copilot</a:t>
                      </a:r>
                    </a:p>
                  </a:txBody>
                  <a:tcPr anchor="ctr">
                    <a:solidFill>
                      <a:srgbClr val="15234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Self-evolving agent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Local-first privacy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Persistent memory &amp; vault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Skill self-authoring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Voice + TTS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App only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Kanban / Project mgmt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Model-agnostic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Dream engine (idle learning)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Offline capable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Cost-optimized routing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Competitive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Why this is defensible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B82F6"/>
                </a:solidFill>
                <a:latin typeface="Calibri"/>
              </a:defRPr>
            </a:pPr>
            <a:r>
              <a:t>Data Moat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737360"/>
            <a:ext cx="9601200" cy="685800"/>
          </a:xfrm>
          <a:prstGeom prst="rect">
            <a:avLst/>
          </a:prstGeom>
          <a:solidFill>
            <a:srgbClr val="15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1737360"/>
            <a:ext cx="9121140" cy="685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1828800"/>
            <a:ext cx="88468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User vaults, knowledge graphs, dream journals — proprietary data that creates deep switching costs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78608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B5CF6"/>
                </a:solidFill>
                <a:latin typeface="Calibri"/>
              </a:defRPr>
            </a:pPr>
            <a:r>
              <a:t>Self-Evolution 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532888"/>
            <a:ext cx="9601200" cy="685800"/>
          </a:xfrm>
          <a:prstGeom prst="rect">
            <a:avLst/>
          </a:prstGeom>
          <a:solidFill>
            <a:srgbClr val="15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2532888"/>
            <a:ext cx="8449056" cy="685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2624328"/>
            <a:ext cx="8174736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Novel dream engine + autonomous skill authoring — no competitor has this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74136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Gateway Economics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328416"/>
            <a:ext cx="9601200" cy="685800"/>
          </a:xfrm>
          <a:prstGeom prst="rect">
            <a:avLst/>
          </a:prstGeom>
          <a:solidFill>
            <a:srgbClr val="15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328416"/>
            <a:ext cx="7872983" cy="685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3419856"/>
            <a:ext cx="7598663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LiteLLM routing + GLM 5.1 = 60-80% cost advantage vs. OpenAI/Anthropic retail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69664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Local-First Trust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4123944"/>
            <a:ext cx="9601200" cy="685800"/>
          </a:xfrm>
          <a:prstGeom prst="rect">
            <a:avLst/>
          </a:prstGeom>
          <a:solidFill>
            <a:srgbClr val="15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4123944"/>
            <a:ext cx="7488936" cy="685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4215384"/>
            <a:ext cx="7214616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Enterprises won't send data to ChatGPT — Nexus keeps it local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965192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B6D4"/>
                </a:solidFill>
                <a:latin typeface="Calibri"/>
              </a:defRPr>
            </a:pPr>
            <a:r>
              <a:t>Skills Ecosystem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919472"/>
            <a:ext cx="9601200" cy="685800"/>
          </a:xfrm>
          <a:prstGeom prst="rect">
            <a:avLst/>
          </a:prstGeom>
          <a:solidFill>
            <a:srgbClr val="15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4919472"/>
            <a:ext cx="6912864" cy="685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5010912"/>
            <a:ext cx="663854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50 bundled + marketplace creates network effects: more skills → more users → more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6072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7171"/>
                </a:solidFill>
                <a:latin typeface="Calibri"/>
              </a:defRPr>
            </a:pPr>
            <a:r>
              <a:t>Security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5715000"/>
            <a:ext cx="9601200" cy="685800"/>
          </a:xfrm>
          <a:prstGeom prst="rect">
            <a:avLst/>
          </a:prstGeom>
          <a:solidFill>
            <a:srgbClr val="15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0" y="5715000"/>
            <a:ext cx="6528816" cy="6858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60" y="5806440"/>
            <a:ext cx="6254496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Prompt filtering, guard rails, secrets redaction — regulatory moat as AI governance tightens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Three-phase strategy for venture-scale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1828800"/>
            <a:ext cx="3291840" cy="420624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5167" y="182880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047" y="2011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047" y="22860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Consumer SaaS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6974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B82F6"/>
                </a:solidFill>
                <a:latin typeface="Calibri"/>
              </a:defRPr>
            </a:pPr>
            <a:r>
              <a:t>Year 1-2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047" y="306324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047" y="3246120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→  Free self-hosted + BYO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047" y="3794760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→  Pro $29/mo — Gateway + all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047" y="4343400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→  Power $49/mo — Priority + sub-agents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047" y="4892040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→  Revenue engine: Nexus model gateway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38447" y="3931920"/>
            <a:ext cx="320040" cy="4572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49927" y="1828800"/>
            <a:ext cx="3291840" cy="420624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49927" y="1828800"/>
            <a:ext cx="329184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2807" y="2011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2807" y="22860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2807" y="26974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B5CF6"/>
                </a:solidFill>
                <a:latin typeface="Calibri"/>
              </a:defRPr>
            </a:pPr>
            <a:r>
              <a:t>Year 2-3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2807" y="3063240"/>
            <a:ext cx="1097280" cy="25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2807" y="3246120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→  Team $49/user/mo — Shared workspaces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2807" y="3794760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→  Business $99/user/mo — SSO +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2807" y="4343400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→  Enterprise custom ($50K-$500K/yr)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2807" y="4892040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→  Custom skill development by Nexus team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33207" y="3931920"/>
            <a:ext cx="320040" cy="4572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44687" y="1828800"/>
            <a:ext cx="3291840" cy="420624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44687" y="182880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7567" y="2011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7567" y="22860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7567" y="26974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Year 3+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27567" y="3063240"/>
            <a:ext cx="1097280" cy="25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7567" y="3246120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→  Skills marketplace (30% commission)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7567" y="3794760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→  Apps &amp; recipes marketplace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7567" y="4343400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→  Prompt security product (standalone)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7567" y="4892040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→  Model marketplace for fine-tuned LLMs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Consumer tiers designed for conversion, enterprise for expansion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1828800"/>
            <a:ext cx="2651760" cy="402336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3727" y="1828800"/>
            <a:ext cx="2651760" cy="5486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607" y="224028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265176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3600" b="1">
                <a:solidFill>
                  <a:srgbClr val="94A3B8"/>
                </a:solidFill>
                <a:latin typeface="Calibri"/>
              </a:defRPr>
            </a:pPr>
            <a:r>
              <a:t>$0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/mo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5247" y="3383280"/>
            <a:ext cx="11887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327" y="35661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✓  Self-hosted, BYO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327" y="39776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✓  Core agent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327" y="43891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✓  5 bundled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327" y="48006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✓  Community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26967" y="1828800"/>
            <a:ext cx="2651760" cy="4023360"/>
          </a:xfrm>
          <a:prstGeom prst="roundRect">
            <a:avLst/>
          </a:prstGeom>
          <a:solidFill>
            <a:srgbClr val="152340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26967" y="182880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6967" y="1965960"/>
            <a:ext cx="2651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B82F6"/>
                </a:solidFill>
                <a:latin typeface="Calibri"/>
              </a:defRPr>
            </a:pPr>
            <a:r>
              <a:t>MOST POPULAR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9847" y="224028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9847" y="265176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$29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58487" y="3383280"/>
            <a:ext cx="11887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5567" y="35661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✓  Nexus model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5567" y="39776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✓  50+ skills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5567" y="43891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✓  Cloud sync &amp; mobile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5567" y="48006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✓  Dream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5567" y="52120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✓  Voice (TTS + STT)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90207" y="1828800"/>
            <a:ext cx="2651760" cy="402336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90207" y="1828800"/>
            <a:ext cx="265176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3087" y="224028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3087" y="265176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3600" b="1">
                <a:solidFill>
                  <a:srgbClr val="8B5CF6"/>
                </a:solidFill>
                <a:latin typeface="Calibri"/>
              </a:defRPr>
            </a:pPr>
            <a:r>
              <a:t>$49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/mo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21727" y="3383280"/>
            <a:ext cx="11887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18807" y="35661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✓  Everything in Pro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8807" y="39776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✓  Priority model routing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8807" y="43891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✓  Extended context windows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8807" y="48006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✓  Sub-agent spawning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18807" y="52120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✓  Local model management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27767" y="1828800"/>
            <a:ext cx="3657600" cy="4023360"/>
          </a:xfrm>
          <a:prstGeom prst="roundRect">
            <a:avLst/>
          </a:prstGeom>
          <a:solidFill>
            <a:srgbClr val="111E3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27767" y="1828800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0647" y="201168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6367" y="2423160"/>
            <a:ext cx="3200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Team  —  $49/user/mo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Shared workspaces, team kanban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56367" y="3566160"/>
            <a:ext cx="3200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Business  —  $99/user/mo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SSO, compliance, custom skills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56367" y="4709160"/>
            <a:ext cx="3200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Enterprise  —  Custom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$50K-$500K/yr, on-prem, SLA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Healthy margins driven by cost-optimized model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Consumer Pro Tier — $29/mo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$29.00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7860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Inference COGS (GLM 5.1 wholesale)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78608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87171"/>
                </a:solidFill>
                <a:latin typeface="Calibri"/>
              </a:defRPr>
            </a:pPr>
            <a:r>
              <a:t>($10.00)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62656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Infrastructure (sync, CDN, relay)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62656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87171"/>
                </a:solidFill>
                <a:latin typeface="Calibri"/>
              </a:defRPr>
            </a:pPr>
            <a:r>
              <a:t>($1.50)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46704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Support &amp;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46704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87171"/>
                </a:solidFill>
                <a:latin typeface="Calibri"/>
              </a:defRPr>
            </a:pPr>
            <a:r>
              <a:t>($1.00)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0752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87171"/>
                </a:solidFill>
                <a:latin typeface="Calibri"/>
              </a:defRPr>
            </a:pPr>
            <a:r>
              <a:t>Total COGS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3075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87171"/>
                </a:solidFill>
                <a:latin typeface="Calibri"/>
              </a:defRPr>
            </a:pPr>
            <a:r>
              <a:t>($12.50)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0" y="411480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68680" y="449884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Gross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98848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$16.50/mo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82896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Gross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82896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57%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SaaS Metrics (Targets)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194560"/>
            <a:ext cx="5029200" cy="393192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583680" y="2377440"/>
          <a:ext cx="46634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005840"/>
                <a:gridCol w="1005840"/>
              </a:tblGrid>
              <a:tr h="4963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CAC (Consumer)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$30-50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$20-40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$15-30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LTV (24mo)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$500-700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$500-700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$600-800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LTV / CAC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10-23x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13-35x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20-53x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Monthly Churn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5-8%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3-5%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2-3%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Net Revenue Retention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105%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115%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Gross Margin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68%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Revenue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Base scenario — path to $20M+ ARR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37360"/>
          <a:ext cx="575157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07592"/>
                <a:gridCol w="1307592"/>
                <a:gridCol w="1307592"/>
              </a:tblGrid>
              <a:tr h="35169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5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15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 anchor="ctr">
                    <a:solidFill>
                      <a:srgbClr val="15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 anchor="ctr">
                    <a:solidFill>
                      <a:srgbClr val="152340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Pro subscribers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1,000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8,000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35,000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Power subscribers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150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1,500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10,000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Team seats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3,000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Enterprise contracts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Consumer MRR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$33K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$297K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$1.42M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Enterprise ARR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$500K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$4.5M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Skills marketplace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$20K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$300K</a:t>
                      </a:r>
                    </a:p>
                  </a:txBody>
                  <a:tcPr anchor="ctr">
                    <a:solidFill>
                      <a:srgbClr val="0E192E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Total ARR</a:t>
                      </a:r>
                    </a:p>
                  </a:txBody>
                  <a:tcPr anchor="ctr">
                    <a:solidFill>
                      <a:srgbClr val="132A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$400K</a:t>
                      </a:r>
                    </a:p>
                  </a:txBody>
                  <a:tcPr anchor="ctr">
                    <a:solidFill>
                      <a:srgbClr val="132A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$4.1M</a:t>
                      </a:r>
                    </a:p>
                  </a:txBody>
                  <a:tcPr anchor="ctr">
                    <a:solidFill>
                      <a:srgbClr val="132A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$21.8M</a:t>
                      </a:r>
                    </a:p>
                  </a:txBody>
                  <a:tcPr anchor="ctr">
                    <a:solidFill>
                      <a:srgbClr val="132A1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Gross Margin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68%</a:t>
                      </a:r>
                    </a:p>
                  </a:txBody>
                  <a:tcPr anchor="ctr">
                    <a:solidFill>
                      <a:srgbClr val="111E36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Gross Profit</a:t>
                      </a:r>
                    </a:p>
                  </a:txBody>
                  <a:tcPr anchor="ctr">
                    <a:solidFill>
                      <a:srgbClr val="132A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$208K</a:t>
                      </a:r>
                    </a:p>
                  </a:txBody>
                  <a:tcPr anchor="ctr">
                    <a:solidFill>
                      <a:srgbClr val="132A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$2.46M</a:t>
                      </a:r>
                    </a:p>
                  </a:txBody>
                  <a:tcPr anchor="ctr">
                    <a:solidFill>
                      <a:srgbClr val="132A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$14.8M</a:t>
                      </a:r>
                    </a:p>
                  </a:txBody>
                  <a:tcPr anchor="ctr">
                    <a:solidFill>
                      <a:srgbClr val="132A1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675120" y="1737360"/>
          <a:ext cx="5029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61722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Annual Recurring Revenue ($K)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Community-led → Product-led → Enterprise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1737360"/>
            <a:ext cx="3291840" cy="429768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5167" y="173736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047" y="1920240"/>
            <a:ext cx="822960" cy="3200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047" y="192024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8167" y="192024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Community-Led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237744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Build the developer &amp; power-user community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047" y="2788920"/>
            <a:ext cx="91440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047" y="297180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→  Open-source core (keep gateway proprietary)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047" y="3502152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→  GitHub stars, Discord, conference talks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047" y="4032504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→  "Build your own AI agent" tutorials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47" y="4562856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→  Product Hunt + Hacker News 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047" y="5093208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→  Target: 10K free → 1K paying subscribers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38447" y="3886200"/>
            <a:ext cx="320040" cy="4572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49927" y="1737360"/>
            <a:ext cx="3291840" cy="429768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49927" y="1737360"/>
            <a:ext cx="329184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2807" y="1920240"/>
            <a:ext cx="822960" cy="3200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2807" y="192024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2927" y="192024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Product-Led 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2807" y="237744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Activate mobile &amp; marketplace flywheels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32807" y="2788920"/>
            <a:ext cx="914400" cy="25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2807" y="297180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→  Mobile app (iOS/Android via Capacitor)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2807" y="3502152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→  Skills marketplace launch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2807" y="4032504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→  Enterprise pilot program (5 design partners)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2807" y="4562856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→  Strategic partnerships (model providers)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2807" y="5093208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→  Target: 8K paying + 5 enterprise contracts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33207" y="3886200"/>
            <a:ext cx="320040" cy="4572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44687" y="1737360"/>
            <a:ext cx="3291840" cy="429768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44687" y="173736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27567" y="1920240"/>
            <a:ext cx="822960" cy="3200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27567" y="192024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7687" y="192024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Enterprise 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7567" y="237744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Sales-led expansion with security product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27567" y="2788920"/>
            <a:ext cx="914400" cy="25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27567" y="297180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→  Dedicated enterprise sales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27567" y="3502152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→  SOC2 + GDPR compliance certifications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7567" y="4032504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→  Prompt security product launch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7567" y="4562856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→  Channel partnerships (SIs, cloud mktplaces)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27567" y="5093208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→  Target: 45K paying + 25 enterprise contracts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Pre-seed round to launch and reach seed-ready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4114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3B82F6"/>
                </a:solidFill>
                <a:latin typeface="Calibri"/>
              </a:defRPr>
            </a:pPr>
            <a:r>
              <a:t>$1.5M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060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Pre-Seed  •  ~$12M post-money valuation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3108960"/>
          <a:ext cx="45720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0" y="173736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18-Month Milestones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286000"/>
            <a:ext cx="5943600" cy="73152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0" y="2286000"/>
            <a:ext cx="54864" cy="7315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2359152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Public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65176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Open-source core + Pro subscription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3154680"/>
            <a:ext cx="5943600" cy="73152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3154680"/>
            <a:ext cx="54864" cy="7315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3227832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10K+ Free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52044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Developer community with organic growth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4023360"/>
            <a:ext cx="5943600" cy="73152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4023360"/>
            <a:ext cx="5486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4096512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1K+ Paying Subscribers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438912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$400K ARR run-rate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4892040"/>
            <a:ext cx="5943600" cy="73152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0" y="4892040"/>
            <a:ext cx="54864" cy="7315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4965192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3+ Enterprise Pilots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525780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Design partner program validated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760720"/>
            <a:ext cx="5943600" cy="731520"/>
          </a:xfrm>
          <a:prstGeom prst="roundRect">
            <a:avLst/>
          </a:prstGeom>
          <a:solidFill>
            <a:srgbClr val="11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0" y="5760720"/>
            <a:ext cx="54864" cy="731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5833872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Seed-Ready 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612648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Positioned for $8-15M Seed round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FFFFF"/>
                </a:solidFill>
                <a:latin typeface="Calibri"/>
              </a:defRPr>
            </a:pPr>
            <a:r>
              <a:t>NEXUS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560320"/>
            <a:ext cx="210312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418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60A5FA"/>
                </a:solidFill>
                <a:latin typeface="Calibri"/>
              </a:defRPr>
            </a:pPr>
            <a:r>
              <a:t>The Self-Evolving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03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Let's build the future of personal AI —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846320"/>
            <a:ext cx="5760720" cy="1097280"/>
          </a:xfrm>
          <a:prstGeom prst="roundRect">
            <a:avLst/>
          </a:prstGeom>
          <a:solidFill>
            <a:srgbClr val="111E36"/>
          </a:solidFill>
          <a:ln w="19050">
            <a:solidFill>
              <a:srgbClr val="1E4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4937760"/>
            <a:ext cx="5212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60A5FA"/>
                </a:solidFill>
                <a:latin typeface="Calibri"/>
              </a:defRPr>
            </a:pPr>
            <a:r>
              <a:t>Contact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[founder@nexus-model.us]  •  [linkedin.com/in/founder]  •  [nexus-model.us]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